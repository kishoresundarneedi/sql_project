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2377440" cy="2377440"/>
          </a:xfrm>
          <a:prstGeom prst="ellipse">
            <a:avLst/>
          </a:prstGeom>
          <a:solidFill>
            <a:srgbClr val="2A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194560"/>
            <a:ext cx="1554480" cy="1554480"/>
          </a:xfrm>
          <a:prstGeom prst="ellipse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3657600"/>
            <a:ext cx="1097280" cy="1097280"/>
          </a:xfrm>
          <a:prstGeom prst="ellipse">
            <a:avLst/>
          </a:prstGeom>
          <a:solidFill>
            <a:srgbClr val="F4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949440" cy="6400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ONLINE MOVIE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7315200" cy="6400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AA6A4"/>
                </a:solidFill>
                <a:latin typeface="Aptos"/>
              </a:defRPr>
            </a:pPr>
            <a:r>
              <a:t>TICKET BOOKING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6400800" cy="36576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2DCEB"/>
                </a:solidFill>
                <a:latin typeface="Aptos"/>
              </a:defRPr>
            </a:pPr>
            <a:r>
              <a:t>Database Management System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566160"/>
            <a:ext cx="1143000" cy="64008"/>
          </a:xfrm>
          <a:prstGeom prst="rect">
            <a:avLst/>
          </a:prstGeom>
          <a:solidFill>
            <a:srgbClr val="F4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640080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Technology: MySQL  |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5852160" cy="574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D2DCEB"/>
                </a:solidFill>
                <a:latin typeface="Aptos"/>
              </a:defRPr>
            </a:pPr>
            <a:r>
              <a:t>Presented by: __</a:t>
            </a:r>
            <a:r>
              <a:rPr lang="en-US"/>
              <a:t>s.kishor</a:t>
            </a:r>
          </a:p>
          <a:p>
            <a:pPr>
              <a:spcAft>
                <a:spcPts val="700"/>
              </a:spcAft>
              <a:defRPr sz="1400" b="0">
                <a:solidFill>
                  <a:srgbClr val="D2DCEB"/>
                </a:solidFill>
                <a:latin typeface="Aptos"/>
              </a:defRPr>
            </a:pPr>
            <a:r>
              <a:t>Institute: __</a:t>
            </a:r>
            <a:r>
              <a:rPr lang="en-US"/>
              <a:t>codegnan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D2DCE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23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A database to manage movie shows, customers and ticket bookings.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6400800" cy="4023360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313E"/>
                </a:solidFill>
                <a:latin typeface="Aptos"/>
              </a:defRPr>
            </a:pPr>
            <a:r>
              <a:t>•  Stores customer, theatre, movie and show information.</a:t>
            </a:r>
          </a:p>
          <a:p>
            <a:pPr>
              <a:spcAft>
                <a:spcPts val="800"/>
              </a:spcAft>
              <a:defRPr sz="1900">
                <a:solidFill>
                  <a:srgbClr val="28313E"/>
                </a:solidFill>
                <a:latin typeface="Aptos"/>
              </a:defRPr>
            </a:pPr>
            <a:r>
              <a:t>•  Records bookings, payment methods and ticket quantities.</a:t>
            </a:r>
          </a:p>
          <a:p>
            <a:pPr>
              <a:spcAft>
                <a:spcPts val="800"/>
              </a:spcAft>
              <a:defRPr sz="1900">
                <a:solidFill>
                  <a:srgbClr val="28313E"/>
                </a:solidFill>
                <a:latin typeface="Aptos"/>
              </a:defRPr>
            </a:pPr>
            <a:r>
              <a:t>•  Uses SQL queries to retrieve information and prepare reports.</a:t>
            </a:r>
          </a:p>
          <a:p>
            <a:pPr>
              <a:spcAft>
                <a:spcPts val="800"/>
              </a:spcAft>
              <a:defRPr sz="1900">
                <a:solidFill>
                  <a:srgbClr val="28313E"/>
                </a:solidFill>
                <a:latin typeface="Aptos"/>
              </a:defRPr>
            </a:pPr>
            <a:r>
              <a:t>•  Uses indexes, views, stored procedures and triggers to support common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73152" cy="1143000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8" y="1993392"/>
            <a:ext cx="310896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8" y="2395728"/>
            <a:ext cx="3090672" cy="4572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E"/>
                </a:solidFill>
                <a:latin typeface="Aptos"/>
              </a:defRPr>
            </a:pPr>
            <a:r>
              <a:t>online_movie_ticket_booking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2461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3246120"/>
            <a:ext cx="73152" cy="1143000"/>
          </a:xfrm>
          <a:prstGeom prst="rect">
            <a:avLst/>
          </a:prstGeom>
          <a:solidFill>
            <a:srgbClr val="2A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3410712"/>
            <a:ext cx="310896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Main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3813048"/>
            <a:ext cx="3090672" cy="4572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E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466344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4663440"/>
            <a:ext cx="73152" cy="1143000"/>
          </a:xfrm>
          <a:prstGeom prst="rect">
            <a:avLst/>
          </a:prstGeom>
          <a:solidFill>
            <a:srgbClr val="F4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4828031"/>
            <a:ext cx="310896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Core 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5230368"/>
            <a:ext cx="3090672" cy="4572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13E"/>
                </a:solidFill>
                <a:latin typeface="Aptos"/>
              </a:defRPr>
            </a:pPr>
            <a:r>
              <a:t>Organised and reliable booking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23F"/>
                </a:solidFill>
                <a:latin typeface="Aptos"/>
              </a:defRPr>
            </a:pPr>
            <a:r>
              <a:t>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What the project is designed to achieve.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554480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80060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Manage master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4782312" cy="8686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E"/>
                </a:solidFill>
                <a:latin typeface="Aptos"/>
              </a:defRPr>
            </a:pPr>
            <a:r>
              <a:t>Maintain customer details, theatre locations, movies and screen 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73152" cy="1554480"/>
          </a:xfrm>
          <a:prstGeom prst="rect">
            <a:avLst/>
          </a:prstGeom>
          <a:solidFill>
            <a:srgbClr val="2A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01952"/>
            <a:ext cx="480060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Manage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04288"/>
            <a:ext cx="4782312" cy="8686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E"/>
                </a:solidFill>
                <a:latin typeface="Aptos"/>
              </a:defRPr>
            </a:pPr>
            <a:r>
              <a:t>Store show dates, times, ticket prices and seat availability.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94760"/>
            <a:ext cx="73152" cy="1554480"/>
          </a:xfrm>
          <a:prstGeom prst="rect">
            <a:avLst/>
          </a:prstGeom>
          <a:solidFill>
            <a:srgbClr val="F4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59352"/>
            <a:ext cx="480060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Track bookings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61688"/>
            <a:ext cx="4782312" cy="8686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E"/>
                </a:solidFill>
                <a:latin typeface="Aptos"/>
              </a:defRPr>
            </a:pPr>
            <a:r>
              <a:t>Save booking totals and payment modes, then link tickets to shows.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9476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94760"/>
            <a:ext cx="73152" cy="1554480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959352"/>
            <a:ext cx="480060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Generate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361688"/>
            <a:ext cx="4782312" cy="8686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E"/>
                </a:solidFill>
                <a:latin typeface="Aptos"/>
              </a:defRPr>
            </a:pPr>
            <a:r>
              <a:t>Summarise revenue, bookings, movie popularity and available seats.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23F"/>
                </a:solidFill>
                <a:latin typeface="Aptos"/>
              </a:defRPr>
            </a:pPr>
            <a:r>
              <a:t>Database Tables &amp;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Six tables organise the main project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" cy="1051560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93392"/>
            <a:ext cx="237744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95728"/>
            <a:ext cx="2359152" cy="3657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customer_id (PK)</a:t>
            </a:r>
          </a:p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customer_name, phone,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73152" cy="1051560"/>
          </a:xfrm>
          <a:prstGeom prst="rect">
            <a:avLst/>
          </a:prstGeom>
          <a:solidFill>
            <a:srgbClr val="2A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1993392"/>
            <a:ext cx="237744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BOOKINGS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395728"/>
            <a:ext cx="2359152" cy="3657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booking_id (PK)</a:t>
            </a:r>
          </a:p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customer_id (FK), total_amount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82880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1828800"/>
            <a:ext cx="73152" cy="1051560"/>
          </a:xfrm>
          <a:prstGeom prst="rect">
            <a:avLst/>
          </a:prstGeom>
          <a:solidFill>
            <a:srgbClr val="F4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993392"/>
            <a:ext cx="237744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BOOKING_DETAILS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395728"/>
            <a:ext cx="2359152" cy="3657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ticket_id (PK)</a:t>
            </a:r>
          </a:p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booking_id (FK), show_id (FK)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06908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4069080"/>
            <a:ext cx="73152" cy="1051560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233672"/>
            <a:ext cx="237744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636008"/>
            <a:ext cx="2359152" cy="3657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show_id (PK)</a:t>
            </a:r>
          </a:p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movie_id (FK), theatre_id (FK)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06908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66160" y="4069080"/>
            <a:ext cx="73152" cy="1051560"/>
          </a:xfrm>
          <a:prstGeom prst="rect">
            <a:avLst/>
          </a:prstGeom>
          <a:solidFill>
            <a:srgbClr val="2A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8" y="4233672"/>
            <a:ext cx="237744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MOVIES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4636008"/>
            <a:ext cx="2359152" cy="3657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movie_id (PK)</a:t>
            </a:r>
          </a:p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movie_name, genre, language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06908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73152" cy="1051560"/>
          </a:xfrm>
          <a:prstGeom prst="rect">
            <a:avLst/>
          </a:prstGeom>
          <a:solidFill>
            <a:srgbClr val="F4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233672"/>
            <a:ext cx="237744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THEATRES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636008"/>
            <a:ext cx="2359152" cy="3657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theatre_id (PK)</a:t>
            </a:r>
          </a:p>
          <a:p>
            <a:pPr>
              <a:spcAft>
                <a:spcPts val="700"/>
              </a:spcAft>
              <a:defRPr sz="1100" b="0">
                <a:solidFill>
                  <a:srgbClr val="28313E"/>
                </a:solidFill>
                <a:latin typeface="Aptos"/>
              </a:defRPr>
            </a:pPr>
            <a:r>
              <a:t>theatre_name, city, screens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063240"/>
            <a:ext cx="283464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F6D7E"/>
                </a:solidFill>
                <a:latin typeface="Aptos"/>
              </a:defRPr>
            </a:pPr>
            <a:r>
              <a:t>1 customer → many bookings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063240"/>
            <a:ext cx="292608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F6D7E"/>
                </a:solidFill>
                <a:latin typeface="Aptos"/>
              </a:defRPr>
            </a:pPr>
            <a:r>
              <a:t>1 booking → many ticket rows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486400"/>
            <a:ext cx="594360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5F6D7E"/>
                </a:solidFill>
                <a:latin typeface="Aptos"/>
              </a:defRPr>
            </a:pPr>
            <a:r>
              <a:t>Each show belongs to one movie and one theatre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97880"/>
            <a:ext cx="4572000" cy="27432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A65B0"/>
                </a:solidFill>
                <a:latin typeface="Aptos"/>
              </a:defRPr>
            </a:pPr>
            <a:r>
              <a:t>PK = Primary Key   |   FK = Foreign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23F"/>
                </a:solidFill>
                <a:latin typeface="Aptos"/>
              </a:defRPr>
            </a:pPr>
            <a:r>
              <a:t>Booking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Typical data flow in the current database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600200"/>
            <a:ext cx="438912" cy="438912"/>
          </a:xfrm>
          <a:prstGeom prst="ellipse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438912" cy="2286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91056"/>
            <a:ext cx="2148840" cy="292608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Select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591056"/>
            <a:ext cx="6949440" cy="4114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E"/>
                </a:solidFill>
                <a:latin typeface="Aptos"/>
              </a:defRPr>
            </a:pPr>
            <a:r>
              <a:t>Find movie, theatre, date and time.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441448"/>
            <a:ext cx="438912" cy="438912"/>
          </a:xfrm>
          <a:prstGeom prst="ellipse">
            <a:avLst/>
          </a:prstGeom>
          <a:solidFill>
            <a:srgbClr val="2A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438912" cy="2286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32304"/>
            <a:ext cx="2148840" cy="292608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Check seats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32304"/>
            <a:ext cx="6949440" cy="4114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E"/>
                </a:solidFill>
                <a:latin typeface="Aptos"/>
              </a:defRPr>
            </a:pPr>
            <a:r>
              <a:t>Read available_seats for the selected show.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282696"/>
            <a:ext cx="438912" cy="438912"/>
          </a:xfrm>
          <a:prstGeom prst="ellipse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55848"/>
            <a:ext cx="438912" cy="2286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73552"/>
            <a:ext cx="2148840" cy="292608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Create 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273552"/>
            <a:ext cx="6949440" cy="4114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E"/>
                </a:solidFill>
                <a:latin typeface="Aptos"/>
              </a:defRPr>
            </a:pPr>
            <a:r>
              <a:t>Insert customer, date, total amount and payment mode.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123944"/>
            <a:ext cx="438912" cy="438912"/>
          </a:xfrm>
          <a:prstGeom prst="ellipse">
            <a:avLst/>
          </a:prstGeom>
          <a:solidFill>
            <a:srgbClr val="2A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97096"/>
            <a:ext cx="438912" cy="2286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14800"/>
            <a:ext cx="2148840" cy="292608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Add ticket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114800"/>
            <a:ext cx="6949440" cy="4114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E"/>
                </a:solidFill>
                <a:latin typeface="Aptos"/>
              </a:defRPr>
            </a:pPr>
            <a:r>
              <a:t>Store show_id, seats_booked and subtotal.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965192"/>
            <a:ext cx="438912" cy="438912"/>
          </a:xfrm>
          <a:prstGeom prst="ellipse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38344"/>
            <a:ext cx="438912" cy="2286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56048"/>
            <a:ext cx="2148840" cy="292608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Update 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956048"/>
            <a:ext cx="6949440" cy="4114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E"/>
                </a:solidFill>
                <a:latin typeface="Aptos"/>
              </a:defRPr>
            </a:pPr>
            <a:r>
              <a:t>Trigger reduces available seats after ticket details are inserted.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241280" cy="4114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49B42"/>
                </a:solidFill>
                <a:latin typeface="Aptos"/>
              </a:defRPr>
            </a:pPr>
            <a:r>
              <a:t>Note: the provided sp_book_ticket procedure currently creates the booking header only; ticket details must also be inserted.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23F"/>
                </a:solidFill>
                <a:latin typeface="Aptos"/>
              </a:defRPr>
            </a:pPr>
            <a:r>
              <a:t>SQL Features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Database objects included in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508760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310896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Indexes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3090672" cy="8229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13E"/>
                </a:solidFill>
                <a:latin typeface="Aptos"/>
              </a:defRPr>
            </a:pPr>
            <a:r>
              <a:t>Improve lookup performance on movie, theatre, customer and show-related columns.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73152" cy="1508760"/>
          </a:xfrm>
          <a:prstGeom prst="rect">
            <a:avLst/>
          </a:prstGeom>
          <a:solidFill>
            <a:srgbClr val="2A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64792"/>
            <a:ext cx="310896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67128"/>
            <a:ext cx="3090672" cy="8229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13E"/>
                </a:solidFill>
                <a:latin typeface="Aptos"/>
              </a:defRPr>
            </a:pPr>
            <a:r>
              <a:t>Reusable queries for booking summaries, low-seat shows and customer spending.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73152" cy="1508760"/>
          </a:xfrm>
          <a:prstGeom prst="rect">
            <a:avLst/>
          </a:prstGeom>
          <a:solidFill>
            <a:srgbClr val="F4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764792"/>
            <a:ext cx="306324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Stored procedures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67128"/>
            <a:ext cx="3044952" cy="8229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13E"/>
                </a:solidFill>
                <a:latin typeface="Aptos"/>
              </a:defRPr>
            </a:pPr>
            <a:r>
              <a:t>Reusable operations for customer bookings, ticket booking and revenue reports.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6576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657600"/>
            <a:ext cx="73152" cy="1508760"/>
          </a:xfrm>
          <a:prstGeom prst="rect">
            <a:avLst/>
          </a:prstGeom>
          <a:solidFill>
            <a:srgbClr val="2A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3822191"/>
            <a:ext cx="310896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224528"/>
            <a:ext cx="3090672" cy="8229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13E"/>
                </a:solidFill>
                <a:latin typeface="Aptos"/>
              </a:defRPr>
            </a:pPr>
            <a:r>
              <a:t>Check seat availability and reduce seats after booking details are inserted.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576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657600"/>
            <a:ext cx="73152" cy="1508760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22191"/>
            <a:ext cx="310896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224528"/>
            <a:ext cx="3090672" cy="822959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13E"/>
                </a:solidFill>
                <a:latin typeface="Aptos"/>
              </a:defRPr>
            </a:pPr>
            <a:r>
              <a:t>Primary and foreign keys help maintain relationships between tables.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23F"/>
                </a:solidFill>
                <a:latin typeface="Aptos"/>
              </a:defRPr>
            </a:pPr>
            <a:r>
              <a:t>Sample SQL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Examples of retrieving useful project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20624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23F"/>
                </a:solidFill>
                <a:latin typeface="Aptos"/>
              </a:defRPr>
            </a:pPr>
            <a:r>
              <a:t>1. Find Telugu-language movies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4754880" cy="1234440"/>
          </a:xfrm>
          <a:prstGeom prst="roundRect">
            <a:avLst/>
          </a:prstGeom>
          <a:solidFill>
            <a:srgbClr val="18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4425696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DCEBFA"/>
                </a:solidFill>
                <a:latin typeface="Consolas" panose="020B0609020204030204"/>
              </a:defRPr>
            </a:pPr>
            <a:r>
              <a:t>SELECT *</a:t>
            </a:r>
            <a:br/>
            <a:r>
              <a:t>FROM movies</a:t>
            </a:r>
            <a:br/>
            <a:r>
              <a:t>WHERE language = 'Telugu';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00200"/>
            <a:ext cx="502920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23F"/>
                </a:solidFill>
                <a:latin typeface="Aptos"/>
              </a:defRPr>
            </a:pPr>
            <a:r>
              <a:t>2. Calculate total booking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965960"/>
            <a:ext cx="5303520" cy="1234440"/>
          </a:xfrm>
          <a:prstGeom prst="roundRect">
            <a:avLst/>
          </a:prstGeom>
          <a:solidFill>
            <a:srgbClr val="18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75688"/>
            <a:ext cx="4974336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DCEBFA"/>
                </a:solidFill>
                <a:latin typeface="Consolas" panose="020B0609020204030204"/>
              </a:defRPr>
            </a:pPr>
            <a:r>
              <a:t>SELECT SUM(total_amount) AS total_revenue</a:t>
            </a:r>
            <a:br/>
            <a:r>
              <a:t>FROM bookings;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484632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23F"/>
                </a:solidFill>
                <a:latin typeface="Aptos"/>
              </a:defRPr>
            </a:pPr>
            <a:r>
              <a:t>3. Find shows with fewer than 90 seats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4754880" cy="1234440"/>
          </a:xfrm>
          <a:prstGeom prst="roundRect">
            <a:avLst/>
          </a:prstGeom>
          <a:solidFill>
            <a:srgbClr val="18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270248"/>
            <a:ext cx="4425696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DCEBFA"/>
                </a:solidFill>
                <a:latin typeface="Consolas" panose="020B0609020204030204"/>
              </a:defRPr>
            </a:pPr>
            <a:r>
              <a:t>SELECT *</a:t>
            </a:r>
            <a:br/>
            <a:r>
              <a:t>FROM shows</a:t>
            </a:r>
            <a:br/>
            <a:r>
              <a:t>WHERE available_seats &lt; 90;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794760"/>
            <a:ext cx="502920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23F"/>
                </a:solidFill>
                <a:latin typeface="Aptos"/>
              </a:defRPr>
            </a:pPr>
            <a:r>
              <a:t>4. Revenue grouped by payment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4160520"/>
            <a:ext cx="5303520" cy="1234440"/>
          </a:xfrm>
          <a:prstGeom prst="roundRect">
            <a:avLst/>
          </a:prstGeom>
          <a:solidFill>
            <a:srgbClr val="18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4270248"/>
            <a:ext cx="4974336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DCEBFA"/>
                </a:solidFill>
                <a:latin typeface="Consolas" panose="020B0609020204030204"/>
              </a:defRPr>
            </a:pPr>
            <a:r>
              <a:t>SELECT payment_mode, SUM(total_amount)</a:t>
            </a:r>
            <a:br/>
            <a:r>
              <a:t>FROM bookings</a:t>
            </a:r>
            <a:br/>
            <a:r>
              <a:t>GROUP BY payment_mode;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23F"/>
                </a:solidFill>
                <a:latin typeface="Aptos"/>
              </a:defRPr>
            </a:pPr>
            <a:r>
              <a:t>Procedures &amp; Triggers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Examples from the SQL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20624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Stored procedure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029200" cy="1188720"/>
          </a:xfrm>
          <a:prstGeom prst="roundRect">
            <a:avLst/>
          </a:prstGeom>
          <a:solidFill>
            <a:srgbClr val="18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700016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DCEBFA"/>
                </a:solidFill>
                <a:latin typeface="Consolas" panose="020B0609020204030204"/>
              </a:defRPr>
            </a:pPr>
            <a:r>
              <a:t>CALL sp_customer_bookings(1);</a:t>
            </a:r>
            <a:br/>
            <a:r>
              <a:t>CALL sp_revenue_report();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45920"/>
            <a:ext cx="484632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Seat protection trigger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5303520" cy="1645920"/>
          </a:xfrm>
          <a:prstGeom prst="roundRect">
            <a:avLst/>
          </a:prstGeom>
          <a:solidFill>
            <a:srgbClr val="18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121408"/>
            <a:ext cx="4974336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CEBFA"/>
                </a:solidFill>
                <a:latin typeface="Consolas" panose="020B0609020204030204"/>
              </a:defRPr>
            </a:pPr>
            <a:r>
              <a:t>IF v_seats &lt; NEW.seats_booked THEN</a:t>
            </a:r>
            <a:br/>
            <a:r>
              <a:t>  SIGNAL SQLSTATE '45000'</a:t>
            </a:r>
            <a:br/>
            <a:r>
              <a:t>  SET MESSAGE_TEXT = 'Seats Not Available';</a:t>
            </a:r>
            <a:br/>
            <a:r>
              <a:t>END IF;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160520"/>
            <a:ext cx="73152" cy="1143000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325112"/>
            <a:ext cx="438912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727448"/>
            <a:ext cx="4370832" cy="4572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8313E"/>
                </a:solidFill>
                <a:latin typeface="Aptos"/>
              </a:defRPr>
            </a:pPr>
            <a:r>
              <a:t>The BEFORE INSERT trigger blocks requests exceeding the current available seat 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6052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160520"/>
            <a:ext cx="73152" cy="1143000"/>
          </a:xfrm>
          <a:prstGeom prst="rect">
            <a:avLst/>
          </a:prstGeom>
          <a:solidFill>
            <a:srgbClr val="F4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4325112"/>
            <a:ext cx="438912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727448"/>
            <a:ext cx="4370832" cy="4572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8313E"/>
                </a:solidFill>
                <a:latin typeface="Aptos"/>
              </a:defRPr>
            </a:pPr>
            <a:r>
              <a:t>Use a transaction and locking/atomic update to reduce race conditions during simultaneous bookings.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23F"/>
                </a:solidFill>
                <a:latin typeface="Aptos"/>
              </a:defRPr>
            </a:pPr>
            <a:r>
              <a:t>Sample Data &amp;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The sample dataset demonstrates the main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6492240" cy="4206240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313E"/>
                </a:solidFill>
                <a:latin typeface="Aptos"/>
              </a:defRPr>
            </a:pPr>
            <a:r>
              <a:t>•  5 customers and 3 theatres are inserted.</a:t>
            </a:r>
          </a:p>
          <a:p>
            <a:pPr>
              <a:spcAft>
                <a:spcPts val="800"/>
              </a:spcAft>
              <a:defRPr sz="1800">
                <a:solidFill>
                  <a:srgbClr val="28313E"/>
                </a:solidFill>
                <a:latin typeface="Aptos"/>
              </a:defRPr>
            </a:pPr>
            <a:r>
              <a:t>•  5 movies cover Action, Drama and Thriller genres.</a:t>
            </a:r>
          </a:p>
          <a:p>
            <a:pPr>
              <a:spcAft>
                <a:spcPts val="800"/>
              </a:spcAft>
              <a:defRPr sz="1800">
                <a:solidFill>
                  <a:srgbClr val="28313E"/>
                </a:solidFill>
                <a:latin typeface="Aptos"/>
              </a:defRPr>
            </a:pPr>
            <a:r>
              <a:t>•  5 show records include date, time, price and seat availability.</a:t>
            </a:r>
          </a:p>
          <a:p>
            <a:pPr>
              <a:spcAft>
                <a:spcPts val="800"/>
              </a:spcAft>
              <a:defRPr sz="1800">
                <a:solidFill>
                  <a:srgbClr val="28313E"/>
                </a:solidFill>
                <a:latin typeface="Aptos"/>
              </a:defRPr>
            </a:pPr>
            <a:r>
              <a:t>•  Booking examples use UPI, Card and Cash payment modes.</a:t>
            </a:r>
          </a:p>
          <a:p>
            <a:pPr>
              <a:spcAft>
                <a:spcPts val="800"/>
              </a:spcAft>
              <a:defRPr sz="1800">
                <a:solidFill>
                  <a:srgbClr val="28313E"/>
                </a:solidFill>
                <a:latin typeface="Aptos"/>
              </a:defRPr>
            </a:pPr>
            <a:r>
              <a:t>•  Reports can show revenue by payment mode and tickets booked by movie.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920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920240"/>
            <a:ext cx="73152" cy="1234440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8" y="2084832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Example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8" y="2487168"/>
            <a:ext cx="2999232" cy="5486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13E"/>
                </a:solidFill>
                <a:latin typeface="Aptos"/>
              </a:defRPr>
            </a:pPr>
            <a:r>
              <a:t>Total revenue = SUM(total_amount)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5204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3520440"/>
            <a:ext cx="73152" cy="1234440"/>
          </a:xfrm>
          <a:prstGeom prst="rect">
            <a:avLst/>
          </a:prstGeom>
          <a:solidFill>
            <a:srgbClr val="2A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3685032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Example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4087368"/>
            <a:ext cx="2999232" cy="5486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8313E"/>
                </a:solidFill>
                <a:latin typeface="Aptos"/>
              </a:defRPr>
            </a:pPr>
            <a:r>
              <a:t>Most-booked movie = highest summed seats_booked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4937760"/>
            <a:ext cx="3383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4937760"/>
            <a:ext cx="73152" cy="914400"/>
          </a:xfrm>
          <a:prstGeom prst="rect">
            <a:avLst/>
          </a:prstGeom>
          <a:solidFill>
            <a:srgbClr val="F4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5102352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F"/>
                </a:solidFill>
                <a:latin typeface="Aptos"/>
              </a:defRPr>
            </a:pPr>
            <a:r>
              <a:t>Example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5504688"/>
            <a:ext cx="2999232" cy="2286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8313E"/>
                </a:solidFill>
                <a:latin typeface="Aptos"/>
              </a:defRPr>
            </a:pPr>
            <a:r>
              <a:t>Shows with low seat availability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23F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7E"/>
                </a:solidFill>
                <a:latin typeface="Aptos"/>
              </a:defRPr>
            </a:pPr>
            <a:r>
              <a:t>Suggested next steps for a more complete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 lIns="45720" tIns="18288" rIns="36576" b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313E"/>
                </a:solidFill>
                <a:latin typeface="Aptos"/>
              </a:defRPr>
            </a:pPr>
            <a:r>
              <a:t>•  Connect the MySQL database to a Python application for a user-friendly interface.</a:t>
            </a:r>
          </a:p>
          <a:p>
            <a:pPr>
              <a:spcAft>
                <a:spcPts val="800"/>
              </a:spcAft>
              <a:defRPr sz="1800">
                <a:solidFill>
                  <a:srgbClr val="28313E"/>
                </a:solidFill>
                <a:latin typeface="Aptos"/>
              </a:defRPr>
            </a:pPr>
            <a:r>
              <a:t>•  Update sp_book_ticket so it inserts booking_details and handles seat availability safely.</a:t>
            </a:r>
          </a:p>
          <a:p>
            <a:pPr>
              <a:spcAft>
                <a:spcPts val="800"/>
              </a:spcAft>
              <a:defRPr sz="1800">
                <a:solidFill>
                  <a:srgbClr val="28313E"/>
                </a:solidFill>
                <a:latin typeface="Aptos"/>
              </a:defRPr>
            </a:pPr>
            <a:r>
              <a:t>•  Validate customer_id, show_id, seat quantity and payment mode before booking.</a:t>
            </a:r>
          </a:p>
          <a:p>
            <a:pPr>
              <a:spcAft>
                <a:spcPts val="800"/>
              </a:spcAft>
              <a:defRPr sz="1800">
                <a:solidFill>
                  <a:srgbClr val="28313E"/>
                </a:solidFill>
                <a:latin typeface="Aptos"/>
              </a:defRPr>
            </a:pPr>
            <a:r>
              <a:t>•  Add cancellation and refund handling, user login and booking history.</a:t>
            </a:r>
          </a:p>
          <a:p>
            <a:pPr>
              <a:spcAft>
                <a:spcPts val="800"/>
              </a:spcAft>
              <a:defRPr sz="1800">
                <a:solidFill>
                  <a:srgbClr val="28313E"/>
                </a:solidFill>
                <a:latin typeface="Aptos"/>
              </a:defRPr>
            </a:pPr>
            <a:r>
              <a:t>•  Add unique seat numbers, show-time validation and transaction rollback on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10515600" cy="4114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A65B0"/>
                </a:solidFill>
                <a:latin typeface="Aptos"/>
              </a:defRPr>
            </a:pPr>
            <a:r>
              <a:t>A complete booking should update the booking header, ticket details and seat count as one transaction.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943600" cy="59436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1051560" cy="64008"/>
          </a:xfrm>
          <a:prstGeom prst="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8046720" cy="274320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DEE7F2"/>
                </a:solidFill>
                <a:latin typeface="Aptos"/>
              </a:defRPr>
            </a:pPr>
            <a:r>
              <a:t>The Online Movie Ticket Booking System demonstrates how MySQL can organise booking data and support useful reports.</a:t>
            </a:r>
          </a:p>
          <a:p>
            <a:pPr>
              <a:spcAft>
                <a:spcPts val="700"/>
              </a:spcAft>
              <a:defRPr sz="2100" b="0">
                <a:solidFill>
                  <a:srgbClr val="DEE7F2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2100" b="0">
                <a:solidFill>
                  <a:srgbClr val="DEE7F2"/>
                </a:solidFill>
                <a:latin typeface="Aptos"/>
              </a:defRPr>
            </a:pPr>
            <a:r>
              <a:t>It includes relational tables, keys, indexes, views, stored procedures, triggers and practical SQL queries.</a:t>
            </a:r>
          </a:p>
          <a:p>
            <a:pPr>
              <a:spcAft>
                <a:spcPts val="700"/>
              </a:spcAft>
              <a:defRPr sz="2100" b="0">
                <a:solidFill>
                  <a:srgbClr val="DEE7F2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2100" b="0">
                <a:solidFill>
                  <a:srgbClr val="DEE7F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2057400"/>
            <a:ext cx="2560320" cy="1463040"/>
          </a:xfrm>
          <a:prstGeom prst="roundRect">
            <a:avLst/>
          </a:prstGeom>
          <a:solidFill>
            <a:srgbClr val="1A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2331720"/>
            <a:ext cx="2103120" cy="868680"/>
          </a:xfrm>
          <a:prstGeom prst="rect">
            <a:avLst/>
          </a:prstGeom>
          <a:noFill/>
        </p:spPr>
        <p:txBody>
          <a:bodyPr wrap="square" lIns="54864" tIns="36576" rIns="54864" bIns="18288" anchor="ctr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MOVIE</a:t>
            </a:r>
          </a:p>
          <a:p>
            <a:pPr algn="ctr">
              <a:spcAft>
                <a:spcPts val="7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18288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D2DCE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4786</Words>
  <Application>WPS Presentation</Application>
  <PresentationFormat>On-screen Show (4:3)</PresentationFormat>
  <Paragraphs>261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Aptos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Sundarneedi Kishore</cp:lastModifiedBy>
  <cp:revision>2</cp:revision>
  <dcterms:created xsi:type="dcterms:W3CDTF">2013-01-27T09:14:00Z</dcterms:created>
  <dcterms:modified xsi:type="dcterms:W3CDTF">2026-10-24T23:47:28Z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BE5EB4802F654DF1896FEE179B75E496_12</vt:lpwstr>
  </property>
  <property fmtid="{D5CDD505-2E9C-101B-9397-08002B2CF9AE}" pid="3" name="KSOProductBuildVer">
    <vt:lpwstr>1033-12.1.0.28099</vt:lpwstr>
  </property>
</Properties>
</file>